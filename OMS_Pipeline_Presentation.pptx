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2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0C1A3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16345C"/>
          </a:solidFill>
          <a:ln/>
        </p:spPr>
      </p:sp>
      <p:sp>
        <p:nvSpPr>
          <p:cNvPr id="4" name="Shape 2"/>
          <p:cNvSpPr/>
          <p:nvPr/>
        </p:nvSpPr>
        <p:spPr>
          <a:xfrm>
            <a:off x="9921240" y="1234440"/>
            <a:ext cx="960120" cy="960120"/>
          </a:xfrm>
          <a:prstGeom prst="ellipse">
            <a:avLst/>
          </a:prstGeom>
          <a:solidFill>
            <a:srgbClr val="1E3A63"/>
          </a:solidFill>
          <a:ln/>
        </p:spPr>
      </p:sp>
      <p:pic>
        <p:nvPicPr>
          <p:cNvPr id="5" name="Image 0" descr="icons/postgresq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28" y="1481328"/>
            <a:ext cx="466344" cy="466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921240" y="2651760"/>
            <a:ext cx="960120" cy="9601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1" descr="icons/airfl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28" y="2898648"/>
            <a:ext cx="466344" cy="4663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921240" y="4069080"/>
            <a:ext cx="960120" cy="960120"/>
          </a:xfrm>
          <a:prstGeom prst="ellipse">
            <a:avLst/>
          </a:prstGeom>
          <a:solidFill>
            <a:srgbClr val="1E3A63"/>
          </a:solidFill>
          <a:ln/>
        </p:spPr>
      </p:sp>
      <p:pic>
        <p:nvPicPr>
          <p:cNvPr id="9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4315968"/>
            <a:ext cx="466344" cy="4663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01300" y="2194560"/>
            <a:ext cx="0" cy="457200"/>
          </a:xfrm>
          <a:prstGeom prst="line">
            <a:avLst/>
          </a:prstGeom>
          <a:noFill/>
          <a:ln w="25400">
            <a:solidFill>
              <a:srgbClr val="3C5578"/>
            </a:solidFill>
            <a:prstDash val="dash"/>
          </a:ln>
        </p:spPr>
      </p:sp>
      <p:sp>
        <p:nvSpPr>
          <p:cNvPr id="11" name="Shape 6"/>
          <p:cNvSpPr/>
          <p:nvPr/>
        </p:nvSpPr>
        <p:spPr>
          <a:xfrm>
            <a:off x="10401300" y="3611880"/>
            <a:ext cx="0" cy="457200"/>
          </a:xfrm>
          <a:prstGeom prst="line">
            <a:avLst/>
          </a:prstGeom>
          <a:noFill/>
          <a:ln w="25400">
            <a:solidFill>
              <a:srgbClr val="3C5578"/>
            </a:solidFill>
            <a:prstDash val="dash"/>
          </a:ln>
        </p:spPr>
      </p:sp>
      <p:sp>
        <p:nvSpPr>
          <p:cNvPr id="12" name="Text 7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PROJECT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94360" y="187452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 OMS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4400" dirty="0"/>
          </a:p>
        </p:txBody>
      </p:sp>
      <p:sp>
        <p:nvSpPr>
          <p:cNvPr id="14" name="Text 9"/>
          <p:cNvSpPr/>
          <p:nvPr/>
        </p:nvSpPr>
        <p:spPr>
          <a:xfrm>
            <a:off x="640080" y="3794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production-style, end-to-end Order Management System pipeline — extracting, validating, transforming, and warehousing data entirely with native Apache Airflow.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" y="4892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4008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971800" y="4892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2,747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297180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303520" y="4892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5303520" y="5349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F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5989320"/>
            <a:ext cx="7772400" cy="0"/>
          </a:xfrm>
          <a:prstGeom prst="line">
            <a:avLst/>
          </a:prstGeom>
          <a:noFill/>
          <a:ln w="12700">
            <a:solidFill>
              <a:srgbClr val="2E446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61081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Amer  (Mo Amer)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0080" y="64739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·  Designed &amp; Built the Full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Responsibilities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was to build a production-style Airflow project — no dbt, no Great Expectations, no external transformation frameworks. Every stage of the ETL lifecycle, from raw Postgres extraction to warehouse-ready star schema, is implemented natively in Airflow.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2826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306324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07008" y="339242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8 OMS tables from Neon PostgreSQL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826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5968" y="306324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15968" y="339242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and null checks before every load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51713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429768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07008" y="462686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types, fix data-quality issues, engineer metrics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51713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15968" y="429768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315968" y="462686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a warehouse-ready star schema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751576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553212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07008" y="586130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daily sales KPIs automatically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657600" y="5623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icons/envelop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616" y="5751576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315968" y="5532120"/>
            <a:ext cx="2221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315968" y="5861304"/>
            <a:ext cx="2221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the moment any task fails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7315200" y="1508760"/>
            <a:ext cx="4343400" cy="4480560"/>
          </a:xfrm>
          <a:prstGeom prst="roundRect">
            <a:avLst>
              <a:gd name="adj" fmla="val 2947"/>
            </a:avLst>
          </a:prstGeom>
          <a:solidFill>
            <a:srgbClr val="132A4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76352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63524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32" name="Text 24"/>
          <p:cNvSpPr/>
          <p:nvPr/>
        </p:nvSpPr>
        <p:spPr>
          <a:xfrm>
            <a:off x="7635240" y="2816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in oms_core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635240" y="3127248"/>
            <a:ext cx="3703320" cy="0"/>
          </a:xfrm>
          <a:prstGeom prst="line">
            <a:avLst/>
          </a:prstGeom>
          <a:noFill/>
          <a:ln w="9525">
            <a:solidFill>
              <a:srgbClr val="2E446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635240" y="3182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2,747</a:t>
            </a:r>
            <a:endParaRPr lang="en-US" sz="3000" dirty="0"/>
          </a:p>
        </p:txBody>
      </p:sp>
      <p:sp>
        <p:nvSpPr>
          <p:cNvPr id="35" name="Text 27"/>
          <p:cNvSpPr/>
          <p:nvPr/>
        </p:nvSpPr>
        <p:spPr>
          <a:xfrm>
            <a:off x="7635240" y="3712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across all tables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7635240" y="4023360"/>
            <a:ext cx="3703320" cy="0"/>
          </a:xfrm>
          <a:prstGeom prst="line">
            <a:avLst/>
          </a:prstGeom>
          <a:noFill/>
          <a:ln w="9525">
            <a:solidFill>
              <a:srgbClr val="2E446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635240" y="407822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7635240" y="4608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tables (5 dims + 1 fact)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7635240" y="4919472"/>
            <a:ext cx="3703320" cy="0"/>
          </a:xfrm>
          <a:prstGeom prst="line">
            <a:avLst/>
          </a:prstGeom>
          <a:noFill/>
          <a:ln w="9525">
            <a:solidFill>
              <a:srgbClr val="2E4468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635240" y="49743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Text 33"/>
          <p:cNvSpPr/>
          <p:nvPr/>
        </p:nvSpPr>
        <p:spPr>
          <a:xfrm>
            <a:off x="7635240" y="5504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phases, fully delivered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Postgres to Warehouse-Ready Star Schema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runs as an orchestrated Airflow task — no external tooling in the data path.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35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postgresq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186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oms_core source</a:t>
            </a:r>
            <a:endParaRPr lang="en-US" sz="900" dirty="0"/>
          </a:p>
        </p:txBody>
      </p:sp>
      <p:pic>
        <p:nvPicPr>
          <p:cNvPr id="10" name="Image 1" descr="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146" y="3776472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47483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58963" y="3035808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icons/airfl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843" y="321868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20635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520635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DAG</a:t>
            </a:r>
            <a:endParaRPr lang="en-US" sz="900" dirty="0"/>
          </a:p>
        </p:txBody>
      </p:sp>
      <p:pic>
        <p:nvPicPr>
          <p:cNvPr id="16" name="Image 3" descr="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989" y="3776472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46326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57806" y="3035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task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686" y="3218688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19478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419478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PostgresHook, per-table</a:t>
            </a:r>
            <a:endParaRPr lang="en-US" sz="900" dirty="0"/>
          </a:p>
        </p:txBody>
      </p:sp>
      <p:pic>
        <p:nvPicPr>
          <p:cNvPr id="22" name="Image 5" descr="icons/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2" y="3776472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5169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56649" y="3035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6" descr="icons/cog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529" y="3218688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18321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318321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type-fix, engineer</a:t>
            </a:r>
            <a:endParaRPr lang="en-US" sz="900" dirty="0"/>
          </a:p>
        </p:txBody>
      </p:sp>
      <p:pic>
        <p:nvPicPr>
          <p:cNvPr id="28" name="Image 7" descr="icons/arrowRight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675" y="3776472"/>
            <a:ext cx="256032" cy="25603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44012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55492" y="3035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8" descr="icons/databas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8372" y="3218688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17164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8217164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upserts</a:t>
            </a:r>
            <a:endParaRPr lang="en-US" sz="900" dirty="0"/>
          </a:p>
        </p:txBody>
      </p:sp>
      <p:pic>
        <p:nvPicPr>
          <p:cNvPr id="34" name="Image 9" descr="icons/arrowRight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5518" y="3776472"/>
            <a:ext cx="256032" cy="256032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10042855" y="274320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454335" y="303580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10" descr="icons/chart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7215" y="3218688"/>
            <a:ext cx="411480" cy="41148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116007" y="395020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10116007" y="452628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email alerts</a:t>
            </a:r>
            <a:endParaRPr lang="en-US" sz="900" dirty="0"/>
          </a:p>
        </p:txBody>
      </p:sp>
      <p:sp>
        <p:nvSpPr>
          <p:cNvPr id="40" name="Text 27"/>
          <p:cNvSpPr/>
          <p:nvPr/>
        </p:nvSpPr>
        <p:spPr>
          <a:xfrm>
            <a:off x="548640" y="54406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mirrors the project spec: Neon PostgreSQL → Airflow Scheduler → Dynamic DAG → Extract → Validate → Transform → Load → Aggregate → Notify → UI / Logs.</a:t>
            </a:r>
            <a:endParaRPr lang="en-US" sz="1150" dirty="0"/>
          </a:p>
        </p:txBody>
      </p:sp>
      <p:sp>
        <p:nvSpPr>
          <p:cNvPr id="41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42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Focused, Production-Grade Toolset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7464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2720" y="213055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airfl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312" y="229514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904" y="297180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7192" y="33192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scheduling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62376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7632" y="213055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icons/postgresq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224" y="229514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3816" y="297180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72104" y="33192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warehouse database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7288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92544" y="213055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icons/dock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136" y="229514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8728" y="297180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97016" y="33192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deployment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2200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17456" y="213055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cele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048" y="229514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3640" y="297180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21928" y="33192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task execution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37464" y="41148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42720" y="437083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4" descr="icons/redi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312" y="4535424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8904" y="5212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47192" y="555955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message broker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62376" y="41148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67632" y="437083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5" descr="icons/pyth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2224" y="4535424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3816" y="5212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72104" y="555955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API &amp; callables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87288" y="41148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092544" y="437083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6" name="Image 6" descr="icons/panda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7136" y="4535424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78728" y="5212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297016" y="555955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transformation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12200" y="41148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817456" y="437083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1" name="Image 7" descr="icons/pytes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2048" y="4535424"/>
            <a:ext cx="402336" cy="40233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03640" y="5212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021928" y="555955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integrity testing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Each Fully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10469880" cy="0"/>
          </a:xfrm>
          <a:prstGeom prst="line">
            <a:avLst/>
          </a:prstGeom>
          <a:noFill/>
          <a:ln w="254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628900"/>
            <a:ext cx="502920" cy="5029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7F9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" y="1280160"/>
            <a:ext cx="20939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" y="1389888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" y="16002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7452" y="1947672"/>
            <a:ext cx="1819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LocalExecutor, TaskGroups, branching, retries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2624328"/>
            <a:ext cx="0" cy="256032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8990" y="2628900"/>
            <a:ext cx="502920" cy="5029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7F9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899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53462" y="3136392"/>
            <a:ext cx="20939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0622" y="3246120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0622" y="3456432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Pipelines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0622" y="3803904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XCom, Variables, TaskFlow API, Dynamic Task Mapping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00450" y="2880360"/>
            <a:ext cx="0" cy="256032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628900"/>
            <a:ext cx="502920" cy="5029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7F9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56632" y="1280160"/>
            <a:ext cx="20939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93792" y="1389888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93792" y="16002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Warehouse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93792" y="1947672"/>
            <a:ext cx="1819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PostgresHook + SQL operators, validation, star schema load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3620" y="2624328"/>
            <a:ext cx="0" cy="256032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5330" y="2628900"/>
            <a:ext cx="502920" cy="5029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533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59802" y="3136392"/>
            <a:ext cx="20939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96962" y="3246120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96962" y="3456432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96962" y="3803904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timetable, retry policy, failure callbacks, pytest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606790" y="2880360"/>
            <a:ext cx="0" cy="256032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58500" y="2628900"/>
            <a:ext cx="502920" cy="50292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7F9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58500" y="26289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062972" y="1280160"/>
            <a:ext cx="209397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200132" y="1389888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00132" y="16002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Monitor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200132" y="1947672"/>
            <a:ext cx="1819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CeleryExecutor, Redis, task duration analysis, worker scaling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1109960" y="2624328"/>
            <a:ext cx="0" cy="256032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phases are complete and running in the current deployment.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Dataset — Three Fixes Still Required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all 8 tables (2,747 rows) up front — schema, types, nulls, duplicates — surfaced a near-perfect dataset with just one stray null, but three formatting issues that would have broken downstream analytics if left unfixed.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37560" cy="370332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87752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7" name="Image 0" descr="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249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read as plain text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05079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orderdate, hiredate, and date columns loaded as generic strings, blocking any time-series logic or filtering.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5120640"/>
            <a:ext cx="288036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explicitly with pd.to_datetime() into true datetime columns.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42232" y="2331720"/>
            <a:ext cx="3337560" cy="370332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2587752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4" name="Image 1" descr="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72491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0832" y="3291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NULL silently changed a data type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70832" y="405079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NULL in employees.managerid (the CEO, who has no manager) forced pandas to upcast the whole ID column from integer to float.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70832" y="5120640"/>
            <a:ext cx="288036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70832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to pandas' nullable Int64 dtype — keeps IDs as clean integers.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735824" y="2331720"/>
            <a:ext cx="3337560" cy="370332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64424" y="2587752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1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72491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64424" y="3291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per-line revenue metric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964424" y="4050792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 stored quantity and unitprice separately with no combined total — every query would need to recompute it.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964424" y="5120640"/>
            <a:ext cx="288036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964424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total_price = quantity × unitprice during transformation.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ROOT-CAUSE DEBUGGING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a Silent, Repeating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3911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3134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44144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extraction tasks failed — but the same four, every single run, across every retry.</a:t>
            </a:r>
            <a:endParaRPr lang="en-US" sz="1000" dirty="0"/>
          </a:p>
        </p:txBody>
      </p:sp>
      <p:pic>
        <p:nvPicPr>
          <p:cNvPr id="10" name="Image 1" descr="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21411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64408" y="187452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47288" y="203911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47288" y="23134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441448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7288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447288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pattern rules out infrastructure: a pool or connection issue would fail randomly, not the same tables each time.</a:t>
            </a:r>
            <a:endParaRPr lang="en-US" sz="1000" dirty="0"/>
          </a:p>
        </p:txBody>
      </p:sp>
      <p:pic>
        <p:nvPicPr>
          <p:cNvPr id="17" name="Image 3" descr="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21411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80176" y="187452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163056" y="203911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163056" y="23134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s/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441448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63056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163056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omitted the schema name. Postgres silently searched the default public schema instead of oms_core.</a:t>
            </a:r>
            <a:endParaRPr lang="en-US" sz="1000" dirty="0"/>
          </a:p>
        </p:txBody>
      </p:sp>
      <p:pic>
        <p:nvPicPr>
          <p:cNvPr id="24" name="Image 5" descr="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321411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695944" y="187452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8878824" y="203911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8878824" y="2313432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8" name="Image 6" descr="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2441448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878824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Verify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8878824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explicit oms_core. prefix to every query — all 8 tables extracted cleanly on the next run.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48640" y="5010912"/>
            <a:ext cx="2423160" cy="1338130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548640" y="5010912"/>
            <a:ext cx="2423160" cy="237744"/>
          </a:xfrm>
          <a:prstGeom prst="roundRect">
            <a:avLst>
              <a:gd name="adj" fmla="val 30769"/>
            </a:avLst>
          </a:prstGeom>
          <a:solidFill>
            <a:srgbClr val="0C1A30"/>
          </a:solidFill>
          <a:ln/>
        </p:spPr>
      </p:sp>
      <p:sp>
        <p:nvSpPr>
          <p:cNvPr id="33" name="Shape 24"/>
          <p:cNvSpPr/>
          <p:nvPr/>
        </p:nvSpPr>
        <p:spPr>
          <a:xfrm>
            <a:off x="548640" y="5129784"/>
            <a:ext cx="2423160" cy="118872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34" name="Shape 25"/>
          <p:cNvSpPr/>
          <p:nvPr/>
        </p:nvSpPr>
        <p:spPr>
          <a:xfrm>
            <a:off x="676656" y="5088636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Shape 26"/>
          <p:cNvSpPr/>
          <p:nvPr/>
        </p:nvSpPr>
        <p:spPr>
          <a:xfrm>
            <a:off x="850392" y="508863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Shape 27"/>
          <p:cNvSpPr/>
          <p:nvPr/>
        </p:nvSpPr>
        <p:spPr>
          <a:xfrm>
            <a:off x="1024128" y="508863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7" name="Text 28"/>
          <p:cNvSpPr/>
          <p:nvPr/>
        </p:nvSpPr>
        <p:spPr>
          <a:xfrm>
            <a:off x="1289304" y="501091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· oms_full_dynamic_extraction</a:t>
            </a:r>
            <a:endParaRPr lang="en-US" sz="850" dirty="0"/>
          </a:p>
        </p:txBody>
      </p:sp>
      <p:pic>
        <p:nvPicPr>
          <p:cNvPr id="38" name="Image 7" descr="real_screens/failure_patter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248656"/>
            <a:ext cx="2423160" cy="110038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246120" y="5239512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map_index 1, 2, 6, 7 fail red on every run, while 0, 3, 4, 5 stay green. That consistency is what pointed away from infrastructure and toward a logic bug.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3246120" y="60624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buNone/>
            </a:pPr>
            <a:r>
              <a:rPr lang="en-US" sz="11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oms_core.{table}</a:t>
            </a:r>
            <a:pPr indent="0" marL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 schema prefix, and every failing task turned green.</a:t>
            </a:r>
            <a:endParaRPr lang="en-US" sz="1150" dirty="0"/>
          </a:p>
        </p:txBody>
      </p:sp>
      <p:sp>
        <p:nvSpPr>
          <p:cNvPr id="41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II · IDEMPOTENT LOADING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Bug: Postgres Rejected the Upsert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5623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5856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fact_sales threw a CardinalityViolation — Postgres refused the upsert outright.</a:t>
            </a:r>
            <a:endParaRPr lang="en-US" sz="1000" dirty="0"/>
          </a:p>
        </p:txBody>
      </p:sp>
      <p:pic>
        <p:nvPicPr>
          <p:cNvPr id="10" name="Image 1" descr="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03123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64408" y="169164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47288" y="185623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47288" y="21305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258568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7288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447288" y="31089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between stg_orders and stg_orderitems produced duplicate orderitemid rows within a single INSERT batch.</a:t>
            </a:r>
            <a:endParaRPr lang="en-US" sz="1000" dirty="0"/>
          </a:p>
        </p:txBody>
      </p:sp>
      <p:pic>
        <p:nvPicPr>
          <p:cNvPr id="17" name="Image 3" descr="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03123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80176" y="169164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163056" y="185623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163056" y="21305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s/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258568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63056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163056" y="31089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UPDATE cannot touch the same row twice in one statement — Postgres blocks it to protect consistency.</a:t>
            </a:r>
            <a:endParaRPr lang="en-US" sz="1000" dirty="0"/>
          </a:p>
        </p:txBody>
      </p:sp>
      <p:pic>
        <p:nvPicPr>
          <p:cNvPr id="24" name="Image 5" descr="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303123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695944" y="169164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8878824" y="185623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8878824" y="2130552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8" name="Image 6" descr="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2258568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878824" y="2743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Verify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8878824" y="31089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DISTINCT ON (orderitemid) to the SELECT, guaranteeing one row per key. Reruns are now fully idempotent.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48640" y="4846320"/>
            <a:ext cx="10195560" cy="1051560"/>
          </a:xfrm>
          <a:prstGeom prst="roundRect">
            <a:avLst>
              <a:gd name="adj" fmla="val 10435"/>
            </a:avLst>
          </a:prstGeom>
          <a:solidFill>
            <a:srgbClr val="0C1A30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777240" y="4992624"/>
            <a:ext cx="9738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psycopg2.errors.CardinalityViolation: ON CONFLICT DO UPDATE command cannot affect row a second time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77240" y="5321808"/>
            <a:ext cx="9738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with: </a:t>
            </a:r>
            <a:pPr indent="0" marL="0">
              <a:buNone/>
            </a:pPr>
            <a:r>
              <a:rPr lang="en-US" sz="11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ON (oi.orderitemid) ... ORDER BY oi.orderitemid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 Built for Fast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dimensions surround one fact table — denormalized on purpose, so BI queries need minimal joins.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57500" y="2926080"/>
            <a:ext cx="4411980" cy="1851660"/>
          </a:xfrm>
          <a:prstGeom prst="line">
            <a:avLst/>
          </a:prstGeom>
          <a:noFill/>
          <a:ln w="15875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5060" y="2011680"/>
            <a:ext cx="1074420" cy="2766060"/>
          </a:xfrm>
          <a:prstGeom prst="line">
            <a:avLst/>
          </a:prstGeom>
          <a:noFill/>
          <a:ln w="1587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269480" y="2926080"/>
            <a:ext cx="2080260" cy="1851660"/>
          </a:xfrm>
          <a:prstGeom prst="line">
            <a:avLst/>
          </a:prstGeom>
          <a:noFill/>
          <a:ln w="15875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57500" y="4777740"/>
            <a:ext cx="4411980" cy="800100"/>
          </a:xfrm>
          <a:prstGeom prst="line">
            <a:avLst/>
          </a:prstGeom>
          <a:noFill/>
          <a:ln w="15875">
            <a:solidFill>
              <a:srgbClr val="D5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7269480" y="4777740"/>
            <a:ext cx="2080260" cy="800100"/>
          </a:xfrm>
          <a:prstGeom prst="line">
            <a:avLst/>
          </a:prstGeom>
          <a:noFill/>
          <a:ln w="15875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46888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257860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9968" y="2907792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name · email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57800" y="155448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67528" y="166420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993392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· category · price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0" y="246888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22208" y="257860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22208" y="2907792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storeid · city · state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51206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29968" y="52303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dim_employee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29968" y="5559552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· manager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0" y="512064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22208" y="52303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2208" y="5559552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datekey · weekday · weekend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354330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32A4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6713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40919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orderitemid (PK) · quantity · unitprice · total_price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orderitemid is used as the primary key — not (orderid, productid) — so multiple lines for the same product never collide.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FOR RESILIENCE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Fail Small, Recover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Mapping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4688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8 tables runs as its own isolated task instance. One table failing retries alone — the other seven are untouched.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40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03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Connection Pooling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49440" y="24688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5-slot Airflow pool caps concurrent Neon connections, preventing extraction load from exhausting the database.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51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Design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6177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... IF NOT EXISTS schema setup and ON CONFLICT upserts mean re-running the pipeline is always safe, never destructive.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89320" y="402336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251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3891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251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with Backoff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49440" y="46177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tasks retry up to 5 times with a 2-minute delay, absorbing the transient network drops seen in early testing.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SCHEDULING &amp; ALERTING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That Watches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66360" cy="1463040"/>
          </a:xfrm>
          <a:prstGeom prst="roundRect">
            <a:avLst>
              <a:gd name="adj" fmla="val 8750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965960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Business-Days Timetable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89888" y="2313432"/>
            <a:ext cx="4123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Airflow Timetable plugin skips weekends automatically — the DAG only ever schedules on business days.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1783080"/>
            <a:ext cx="5166360" cy="1463040"/>
          </a:xfrm>
          <a:prstGeom prst="roundRect">
            <a:avLst>
              <a:gd name="adj" fmla="val 8750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0488" y="19842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s/cele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0568" y="1965960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+ Redis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30568" y="2313432"/>
            <a:ext cx="4123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execute across dedicated worker processes via a Redis broker, decoupling scheduling from execution for real horizontal scale.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3447288"/>
            <a:ext cx="5166360" cy="1463040"/>
          </a:xfrm>
          <a:prstGeom prst="roundRect">
            <a:avLst>
              <a:gd name="adj" fmla="val 8750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648456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s/envel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732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630168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Email Alerts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89888" y="3977640"/>
            <a:ext cx="4123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on_failure_callback sends a formatted SMTP email — DAG, task, timestamp, and error — the moment any task fails.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989320" y="3447288"/>
            <a:ext cx="5166360" cy="1463040"/>
          </a:xfrm>
          <a:prstGeom prst="roundRect">
            <a:avLst>
              <a:gd name="adj" fmla="val 8750"/>
            </a:avLst>
          </a:prstGeom>
          <a:solidFill>
            <a:srgbClr val="1B355C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0488" y="3648456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icons/pyte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6732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3630168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Integrity Testing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30568" y="3977640"/>
            <a:ext cx="41239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pytest suite checks the DAG imports cleanly, has tasks, and contains no cyclical dependencies — before it ever reaches production.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874520" cy="977013"/>
          </a:xfrm>
          <a:prstGeom prst="roundRect">
            <a:avLst>
              <a:gd name="adj" fmla="val 7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5166360"/>
            <a:ext cx="1874520" cy="201168"/>
          </a:xfrm>
          <a:prstGeom prst="roundRect">
            <a:avLst>
              <a:gd name="adj" fmla="val 36364"/>
            </a:avLst>
          </a:prstGeom>
          <a:solidFill>
            <a:srgbClr val="0C1A30"/>
          </a:solidFill>
          <a:ln/>
        </p:spPr>
      </p:sp>
      <p:sp>
        <p:nvSpPr>
          <p:cNvPr id="26" name="Shape 20"/>
          <p:cNvSpPr/>
          <p:nvPr/>
        </p:nvSpPr>
        <p:spPr>
          <a:xfrm>
            <a:off x="548640" y="5266944"/>
            <a:ext cx="1874520" cy="100584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27" name="Shape 21"/>
          <p:cNvSpPr/>
          <p:nvPr/>
        </p:nvSpPr>
        <p:spPr>
          <a:xfrm>
            <a:off x="676656" y="5225796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Shape 22"/>
          <p:cNvSpPr/>
          <p:nvPr/>
        </p:nvSpPr>
        <p:spPr>
          <a:xfrm>
            <a:off x="850392" y="52257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4128" y="5225796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0" name="Text 24"/>
          <p:cNvSpPr/>
          <p:nvPr/>
        </p:nvSpPr>
        <p:spPr>
          <a:xfrm>
            <a:off x="1289304" y="51663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inbox</a:t>
            </a:r>
            <a:endParaRPr lang="en-US" sz="850" dirty="0"/>
          </a:p>
        </p:txBody>
      </p:sp>
      <p:pic>
        <p:nvPicPr>
          <p:cNvPr id="31" name="Image 4" descr="real_screens/email_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67528"/>
            <a:ext cx="1874520" cy="77584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697480" y="5239512"/>
            <a:ext cx="9006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—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email delivered to the inbox when validate_staging_counts failed, generated automatically by the on_failure_callback — DAG, task, timestamp, and error, no manual checking required.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Green, Production-Ready 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schema setup, extraction, validation, all five dimensions, the fact table, and business aggregations — completes end to 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871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9456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spc="6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SUCCEEDED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18688" y="2103120"/>
            <a:ext cx="24871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19456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55848" y="2816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spc="6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EXTRACTED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88736" y="2103120"/>
            <a:ext cx="24871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25896" y="219456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25896" y="2816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spc="6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TABLES LOADED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58784" y="2103120"/>
            <a:ext cx="248716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95944" y="219456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95944" y="2816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spc="6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NO MANUAL 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6928" y="3337560"/>
            <a:ext cx="5577840" cy="2907475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32A4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06928" y="3337560"/>
            <a:ext cx="5577840" cy="256032"/>
          </a:xfrm>
          <a:prstGeom prst="roundRect">
            <a:avLst>
              <a:gd name="adj" fmla="val 28571"/>
            </a:avLst>
          </a:prstGeom>
          <a:solidFill>
            <a:srgbClr val="0C1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6928" y="3465576"/>
            <a:ext cx="5577840" cy="128016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20" name="Shape 18"/>
          <p:cNvSpPr/>
          <p:nvPr/>
        </p:nvSpPr>
        <p:spPr>
          <a:xfrm>
            <a:off x="3434944" y="3424428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3608680" y="34244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2416" y="342442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047592" y="33375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· oms_transformation · 2026-07-25</a:t>
            </a:r>
            <a:endParaRPr lang="en-US" sz="850" dirty="0"/>
          </a:p>
        </p:txBody>
      </p:sp>
      <p:pic>
        <p:nvPicPr>
          <p:cNvPr id="24" name="Image 0" descr="real_screens/success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6928" y="3593592"/>
            <a:ext cx="5577840" cy="265144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C1A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Proves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6" name="Image 0" descr="icons/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874520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pipeline design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874520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9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11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48272" y="1874520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Mapping &amp; the TaskFlow API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52928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12" name="Image 2" descr="icons/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900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2852928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diagnosis &amp; root-cause debugging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35040" y="2852928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15" name="Image 3" descr="icons/tab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900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48272" y="2852928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warehouse modeling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18" name="Image 4" descr="icons/dock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6849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1872" y="3831336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CeleryExecutor &amp; distributed orchestration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035040" y="3831336"/>
            <a:ext cx="566928" cy="566928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21" name="Image 5" descr="icons/pytes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96849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48272" y="3831336"/>
            <a:ext cx="4361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testing, alerting &amp; monitoring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5257800"/>
            <a:ext cx="10515600" cy="0"/>
          </a:xfrm>
          <a:prstGeom prst="line">
            <a:avLst/>
          </a:prstGeom>
          <a:noFill/>
          <a:ln w="12700">
            <a:solidFill>
              <a:srgbClr val="2E4468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Amer  (Mo Amer)</a:t>
            </a:r>
            <a:endParaRPr lang="en-US" sz="2200" dirty="0"/>
          </a:p>
        </p:txBody>
      </p:sp>
      <p:sp>
        <p:nvSpPr>
          <p:cNvPr id="25" name="Text 17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·  github.com  ·  Built end-to-end on Apache Airflow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0241280" y="5440680"/>
            <a:ext cx="960120" cy="960120"/>
          </a:xfrm>
          <a:prstGeom prst="ellipse">
            <a:avLst/>
          </a:prstGeom>
          <a:solidFill>
            <a:srgbClr val="1B355C"/>
          </a:solidFill>
          <a:ln/>
        </p:spPr>
      </p:sp>
      <p:pic>
        <p:nvPicPr>
          <p:cNvPr id="27" name="Image 6" descr="icons/airflow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5641848"/>
            <a:ext cx="557784" cy="5577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OMS PIPELINE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2026-07-25T12:50:50Z</dcterms:created>
  <dcterms:modified xsi:type="dcterms:W3CDTF">2026-07-25T12:50:50Z</dcterms:modified>
</cp:coreProperties>
</file>